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Raleway" pitchFamily="2" charset="0"/>
      <p:regular r:id="rId17"/>
    </p:embeddedFont>
    <p:embeddedFont>
      <p:font typeface="Roboto" panose="02000000000000000000" pitchFamily="2" charset="0"/>
      <p:regular r:id="rId18"/>
    </p:embeddedFont>
    <p:embeddedFont>
      <p:font typeface="Roboto Bold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2" d="100"/>
          <a:sy n="62" d="100"/>
        </p:scale>
        <p:origin x="3562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3303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528465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Netflix Data Analysis &amp; Business Insights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627040"/>
            <a:ext cx="4722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Internship Project — Data Analytics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· Khushal Dak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Offer ID: AT/INT/2031082 · Start Date: 22 July 2026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399606"/>
            <a:ext cx="617934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1B1B2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1174" y="3442097"/>
            <a:ext cx="905024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184895" y="3399606"/>
            <a:ext cx="603200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1B1B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69950" y="3442097"/>
            <a:ext cx="890290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PANDAS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1858938" y="3399606"/>
            <a:ext cx="839986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1B1B2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943993" y="3442097"/>
            <a:ext cx="1127075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MATPLOTLIB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769766" y="3399606"/>
            <a:ext cx="675084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1B1B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854821" y="3442097"/>
            <a:ext cx="962174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SEABORN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515692" y="3399606"/>
            <a:ext cx="1263700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1B1B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00748" y="3442097"/>
            <a:ext cx="155078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JUPYTER NOTEBOOK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9174"/>
            <a:ext cx="815176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Overview &amp; Dataset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96119" y="884262"/>
            <a:ext cx="1576521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Dataset at a Glance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882114" y="1345257"/>
            <a:ext cx="1225980" cy="438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8,790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1882114" y="1943695"/>
            <a:ext cx="1225980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Records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35858" y="1345257"/>
            <a:ext cx="1226002" cy="438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6035858" y="1943695"/>
            <a:ext cx="1226002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Columns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6119" y="2338239"/>
            <a:ext cx="1576521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Columns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6120" y="2522042"/>
            <a:ext cx="6217100" cy="421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show_id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· </a:t>
            </a:r>
            <a:r>
              <a:rPr lang="en-US" sz="10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· </a:t>
            </a:r>
            <a:r>
              <a:rPr lang="en-US" sz="10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· </a:t>
            </a:r>
            <a:r>
              <a:rPr lang="en-US" sz="10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director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· </a:t>
            </a:r>
            <a:r>
              <a:rPr lang="en-US" sz="10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country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· </a:t>
            </a:r>
            <a:r>
              <a:rPr lang="en-US" sz="10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date_added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· </a:t>
            </a:r>
            <a:r>
              <a:rPr lang="en-US" sz="10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release_year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· </a:t>
            </a:r>
            <a:r>
              <a:rPr lang="en-US" sz="10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rating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· </a:t>
            </a:r>
            <a:r>
              <a:rPr lang="en-US" sz="10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duration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· </a:t>
            </a:r>
            <a:r>
              <a:rPr lang="en-US" sz="10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listed_in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6119" y="3130376"/>
            <a:ext cx="1576521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Analytical Objective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6119" y="3524920"/>
            <a:ext cx="7672521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Prepare the Netflix dataset for reliable analysis and extract meaningful business insights related to content type distribution, geographic concentration, and release-year production trends.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6119" y="4123730"/>
            <a:ext cx="1576521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Types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6120" y="4312295"/>
            <a:ext cx="6217100" cy="411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Mixed — 1 integer column, 9 string columns, datetime attributes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5365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Task 1 — Data Cleaning &amp; Preparation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380158"/>
            <a:ext cx="738113" cy="215354"/>
          </a:xfrm>
          <a:prstGeom prst="roundRect">
            <a:avLst>
              <a:gd name="adj" fmla="val 22119"/>
            </a:avLst>
          </a:prstGeom>
          <a:solidFill>
            <a:srgbClr val="E1E1EA"/>
          </a:solidFill>
          <a:ln/>
        </p:spPr>
      </p:sp>
      <p:sp>
        <p:nvSpPr>
          <p:cNvPr id="4" name="Text 2"/>
          <p:cNvSpPr/>
          <p:nvPr/>
        </p:nvSpPr>
        <p:spPr>
          <a:xfrm>
            <a:off x="581174" y="1422648"/>
            <a:ext cx="102520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STEPS 1–3</a:t>
            </a:r>
            <a:endParaRPr lang="en-US" sz="8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754981"/>
            <a:ext cx="2622724" cy="27348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01180" y="1851347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656927" y="2341066"/>
            <a:ext cx="23011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Dataset Import &amp; Inspection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56927" y="2647578"/>
            <a:ext cx="2301106" cy="146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Imported with Pandas: 8,790 records, 10 columns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Verified structure, column names, and data types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Confirmed: 1 integer, 9 string columns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60601" y="1754981"/>
            <a:ext cx="2622724" cy="273486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65662" y="1851347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3421410" y="2341066"/>
            <a:ext cx="23011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Missing Value Investigation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421410" y="2647578"/>
            <a:ext cx="2301106" cy="1242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Null check via </a:t>
            </a:r>
            <a:r>
              <a:rPr lang="en-US" sz="11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df.isnull().sum()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Result: 0 SQL-style null values detected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missing data represented as </a:t>
            </a:r>
            <a:r>
              <a:rPr lang="en-US" sz="11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"Not Given"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placeholders</a:t>
            </a:r>
            <a:endParaRPr lang="en-US" sz="11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5083" y="1754981"/>
            <a:ext cx="2622724" cy="273486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230145" y="1851347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6185892" y="2341066"/>
            <a:ext cx="23011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Duplicate Record Verification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6185892" y="2869034"/>
            <a:ext cx="2301106" cy="146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Full-row duplication check performed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Result: 0 duplicate rows found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Title-level investigation performed separately — no duplicates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25648"/>
            <a:ext cx="714896" cy="208583"/>
          </a:xfrm>
          <a:prstGeom prst="roundRect">
            <a:avLst>
              <a:gd name="adj" fmla="val 22123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578495" y="466799"/>
            <a:ext cx="1007343" cy="126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STEPS 4–5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916856"/>
            <a:ext cx="3908375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Step 4 — Categorical Standardization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96119" y="1281038"/>
            <a:ext cx="3908375" cy="2171849"/>
          </a:xfrm>
          <a:prstGeom prst="roundRect">
            <a:avLst>
              <a:gd name="adj" fmla="val 2656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6119" y="1673572"/>
            <a:ext cx="3908375" cy="858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2063725"/>
            <a:ext cx="3908375" cy="858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96119" y="2670200"/>
            <a:ext cx="3908375" cy="858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96119" y="3060353"/>
            <a:ext cx="3908375" cy="858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38770" y="1370335"/>
            <a:ext cx="1481882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Column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938040" y="1370335"/>
            <a:ext cx="1481882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Unique Values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37309" y="1370335"/>
            <a:ext cx="1481882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Status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38770" y="1760488"/>
            <a:ext cx="1481882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Type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938040" y="1760488"/>
            <a:ext cx="1481882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37309" y="1760488"/>
            <a:ext cx="1481882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Valid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8770" y="2150641"/>
            <a:ext cx="1481882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Country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938040" y="2150641"/>
            <a:ext cx="1024682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86 incl. "Not Given"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237309" y="2150641"/>
            <a:ext cx="1481882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⚠️</a:t>
            </a: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Cleaned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38770" y="2757115"/>
            <a:ext cx="1481882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Rating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938040" y="2757115"/>
            <a:ext cx="1481882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37309" y="2757115"/>
            <a:ext cx="1481882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Valid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38770" y="3147268"/>
            <a:ext cx="1481882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Director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938040" y="3147268"/>
            <a:ext cx="1481882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4,528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237309" y="3147268"/>
            <a:ext cx="1481882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⚠️</a:t>
            </a: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Cleaned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44269" y="916856"/>
            <a:ext cx="3908375" cy="429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Step 5 — Placeholder Handling &amp; Recovery Testing</a:t>
            </a:r>
            <a:endParaRPr lang="en-US" sz="1350" dirty="0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44269" y="1495574"/>
            <a:ext cx="1887662" cy="1965871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4976813" y="1651918"/>
            <a:ext cx="1498774" cy="429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Director — 2,588 "Not Given"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4976813" y="2213967"/>
            <a:ext cx="1498774" cy="1091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Recovery test: 0 titles with valid directors matched "Not Given" entries → Replaced with </a:t>
            </a:r>
            <a:r>
              <a:rPr lang="en-US" sz="10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"Unknown"</a:t>
            </a:r>
            <a:endParaRPr lang="en-US" sz="1050" dirty="0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64908" y="1495574"/>
            <a:ext cx="1887736" cy="1965871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6997452" y="1651918"/>
            <a:ext cx="1498848" cy="429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Country — 287 "Not Given"</a:t>
            </a:r>
            <a:endParaRPr lang="en-US" sz="1350" dirty="0"/>
          </a:p>
        </p:txBody>
      </p:sp>
      <p:sp>
        <p:nvSpPr>
          <p:cNvPr id="31" name="Text 27"/>
          <p:cNvSpPr/>
          <p:nvPr/>
        </p:nvSpPr>
        <p:spPr>
          <a:xfrm>
            <a:off x="6997452" y="2213967"/>
            <a:ext cx="1498848" cy="658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Treated as unavailable → Replaced with </a:t>
            </a:r>
            <a:r>
              <a:rPr lang="en-US" sz="10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"Unknown"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4744269" y="3611091"/>
            <a:ext cx="3908375" cy="957039"/>
          </a:xfrm>
          <a:prstGeom prst="roundRect">
            <a:avLst>
              <a:gd name="adj" fmla="val 6027"/>
            </a:avLst>
          </a:prstGeom>
          <a:solidFill>
            <a:srgbClr val="E1E1EA"/>
          </a:solidFill>
          <a:ln/>
        </p:spPr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1563" y="3810595"/>
            <a:ext cx="171599" cy="137294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5190455" y="3765128"/>
            <a:ext cx="3324895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Principle: Missing information was never fabricated — retained as "Unknown" rather than guessed or removed.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0010"/>
            <a:ext cx="8151763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Task 2 — Content Type Analysis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496119" y="878458"/>
            <a:ext cx="507355" cy="148010"/>
          </a:xfrm>
          <a:prstGeom prst="roundRect">
            <a:avLst>
              <a:gd name="adj" fmla="val 22126"/>
            </a:avLst>
          </a:prstGeom>
          <a:solidFill>
            <a:srgbClr val="E1E1EA"/>
          </a:solidFill>
          <a:ln/>
        </p:spPr>
      </p:sp>
      <p:sp>
        <p:nvSpPr>
          <p:cNvPr id="4" name="Text 2"/>
          <p:cNvSpPr/>
          <p:nvPr/>
        </p:nvSpPr>
        <p:spPr>
          <a:xfrm>
            <a:off x="554534" y="907628"/>
            <a:ext cx="847725" cy="89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STEPS 1–5</a:t>
            </a:r>
            <a:endParaRPr lang="en-US" sz="600" dirty="0"/>
          </a:p>
        </p:txBody>
      </p:sp>
      <p:sp>
        <p:nvSpPr>
          <p:cNvPr id="7" name="Shape 3"/>
          <p:cNvSpPr/>
          <p:nvPr/>
        </p:nvSpPr>
        <p:spPr>
          <a:xfrm>
            <a:off x="496119" y="4003328"/>
            <a:ext cx="2672581" cy="700087"/>
          </a:xfrm>
          <a:prstGeom prst="roundRect">
            <a:avLst>
              <a:gd name="adj" fmla="val 5847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8289" y="4105498"/>
            <a:ext cx="2468240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Movies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598289" y="4297933"/>
            <a:ext cx="2468240" cy="30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6,126 titles — 69.7%</a:t>
            </a:r>
            <a:endParaRPr lang="en-US" sz="75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Dominant share of catalog</a:t>
            </a:r>
            <a:endParaRPr lang="en-US" sz="750" dirty="0"/>
          </a:p>
        </p:txBody>
      </p:sp>
      <p:sp>
        <p:nvSpPr>
          <p:cNvPr id="10" name="Shape 6"/>
          <p:cNvSpPr/>
          <p:nvPr/>
        </p:nvSpPr>
        <p:spPr>
          <a:xfrm>
            <a:off x="3235672" y="4003328"/>
            <a:ext cx="2672581" cy="700087"/>
          </a:xfrm>
          <a:prstGeom prst="roundRect">
            <a:avLst>
              <a:gd name="adj" fmla="val 5847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337843" y="4105498"/>
            <a:ext cx="2468240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TV Shows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3337843" y="4297933"/>
            <a:ext cx="2468240" cy="30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2,664 titles — 30.3%</a:t>
            </a:r>
            <a:endParaRPr lang="en-US" sz="75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Significant but secondary segment</a:t>
            </a:r>
            <a:endParaRPr lang="en-US" sz="750" dirty="0"/>
          </a:p>
        </p:txBody>
      </p:sp>
      <p:sp>
        <p:nvSpPr>
          <p:cNvPr id="13" name="Shape 9"/>
          <p:cNvSpPr/>
          <p:nvPr/>
        </p:nvSpPr>
        <p:spPr>
          <a:xfrm>
            <a:off x="5975226" y="4003328"/>
            <a:ext cx="2672581" cy="700087"/>
          </a:xfrm>
          <a:prstGeom prst="roundRect">
            <a:avLst>
              <a:gd name="adj" fmla="val 5847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077396" y="4105498"/>
            <a:ext cx="2468240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Finding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6077396" y="4297933"/>
            <a:ext cx="2468240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Nearly 70% movie-based — strong </a:t>
            </a:r>
            <a:r>
              <a:rPr lang="en-US" sz="7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movie-focused strategy</a:t>
            </a: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evident</a:t>
            </a:r>
            <a:endParaRPr lang="en-US" sz="7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98E8ED1-7E8D-067F-A36A-0A416527E2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386" t="1338" r="9201" b="6998"/>
          <a:stretch>
            <a:fillRect/>
          </a:stretch>
        </p:blipFill>
        <p:spPr>
          <a:xfrm>
            <a:off x="5556737" y="1128638"/>
            <a:ext cx="2289298" cy="266308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2E34727-A162-E592-4F33-282BC50A10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1128638"/>
            <a:ext cx="4075881" cy="28423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6336"/>
            <a:ext cx="5538921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Task 3 — Country-Wise Content Analysis</a:t>
            </a:r>
            <a:endParaRPr lang="en-US" sz="2250" dirty="0"/>
          </a:p>
        </p:txBody>
      </p:sp>
      <p:sp>
        <p:nvSpPr>
          <p:cNvPr id="3" name="Shape 1"/>
          <p:cNvSpPr/>
          <p:nvPr/>
        </p:nvSpPr>
        <p:spPr>
          <a:xfrm>
            <a:off x="496119" y="993428"/>
            <a:ext cx="599480" cy="174947"/>
          </a:xfrm>
          <a:prstGeom prst="roundRect">
            <a:avLst>
              <a:gd name="adj" fmla="val 22122"/>
            </a:avLst>
          </a:prstGeom>
          <a:solidFill>
            <a:srgbClr val="E1E1EA"/>
          </a:solidFill>
          <a:ln/>
        </p:spPr>
      </p:sp>
      <p:sp>
        <p:nvSpPr>
          <p:cNvPr id="4" name="Text 2"/>
          <p:cNvSpPr/>
          <p:nvPr/>
        </p:nvSpPr>
        <p:spPr>
          <a:xfrm>
            <a:off x="565175" y="1027956"/>
            <a:ext cx="918567" cy="105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STEPS 1–4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6035019" y="1369515"/>
            <a:ext cx="2194602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Top Content-Producing Countries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035019" y="1654670"/>
            <a:ext cx="1792266" cy="2939653"/>
          </a:xfrm>
          <a:prstGeom prst="roundRect">
            <a:avLst>
              <a:gd name="adj" fmla="val 1646"/>
            </a:avLst>
          </a:prstGeom>
          <a:noFill/>
          <a:ln w="4763">
            <a:solidFill>
              <a:schemeClr val="tx1">
                <a:alpha val="8000"/>
              </a:scheme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035019" y="1950540"/>
            <a:ext cx="1792265" cy="8316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6035019" y="2244029"/>
            <a:ext cx="1792265" cy="8316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6035019" y="2537518"/>
            <a:ext cx="1792265" cy="8316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6035019" y="2831007"/>
            <a:ext cx="1792265" cy="8316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6035019" y="3124496"/>
            <a:ext cx="1792265" cy="8316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6035019" y="3417985"/>
            <a:ext cx="1792265" cy="8316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6035019" y="3711475"/>
            <a:ext cx="1792265" cy="8316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6035019" y="4004964"/>
            <a:ext cx="1792265" cy="8316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6035019" y="4298453"/>
            <a:ext cx="1792265" cy="8316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6154899" y="1720303"/>
            <a:ext cx="852994" cy="232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Country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425394" y="1720303"/>
            <a:ext cx="340930" cy="212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Titles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154899" y="2013792"/>
            <a:ext cx="852994" cy="232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United States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425394" y="2013792"/>
            <a:ext cx="340930" cy="212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3,240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154899" y="2307281"/>
            <a:ext cx="852994" cy="232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India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7425394" y="2307281"/>
            <a:ext cx="340930" cy="212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1,057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154899" y="2600770"/>
            <a:ext cx="852994" cy="232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United Kingdom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425394" y="2600770"/>
            <a:ext cx="340930" cy="212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638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154899" y="2894259"/>
            <a:ext cx="852994" cy="232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Pakistan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7425394" y="2894259"/>
            <a:ext cx="340930" cy="212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421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154899" y="3187748"/>
            <a:ext cx="852994" cy="232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Canada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7425394" y="3187748"/>
            <a:ext cx="340930" cy="212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271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154899" y="3481237"/>
            <a:ext cx="852994" cy="232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Japan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7425394" y="3481237"/>
            <a:ext cx="340930" cy="212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259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6154899" y="3774726"/>
            <a:ext cx="852994" cy="232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South Korea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7425394" y="3774726"/>
            <a:ext cx="340930" cy="212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214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6154899" y="4068216"/>
            <a:ext cx="852994" cy="232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France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7425394" y="4068216"/>
            <a:ext cx="340930" cy="212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213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6154899" y="4361705"/>
            <a:ext cx="852994" cy="232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Spain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7425394" y="4361705"/>
            <a:ext cx="340930" cy="212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182</a:t>
            </a:r>
            <a:endParaRPr lang="en-US" sz="9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225FCF11-67C6-1E9F-9B2D-738ED52341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505423"/>
            <a:ext cx="5501335" cy="320307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7446"/>
            <a:ext cx="3915861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Task 3 — Geographic Concentration</a:t>
            </a:r>
            <a:endParaRPr lang="en-US" sz="1850" dirty="0"/>
          </a:p>
        </p:txBody>
      </p:sp>
      <p:sp>
        <p:nvSpPr>
          <p:cNvPr id="3" name="Shape 1"/>
          <p:cNvSpPr/>
          <p:nvPr/>
        </p:nvSpPr>
        <p:spPr>
          <a:xfrm>
            <a:off x="496119" y="823094"/>
            <a:ext cx="1161678" cy="144735"/>
          </a:xfrm>
          <a:prstGeom prst="roundRect">
            <a:avLst>
              <a:gd name="adj" fmla="val 22112"/>
            </a:avLst>
          </a:prstGeom>
          <a:solidFill>
            <a:srgbClr val="E1E1EA"/>
          </a:solidFill>
          <a:ln/>
        </p:spPr>
      </p:sp>
      <p:sp>
        <p:nvSpPr>
          <p:cNvPr id="4" name="Text 2"/>
          <p:cNvSpPr/>
          <p:nvPr/>
        </p:nvSpPr>
        <p:spPr>
          <a:xfrm>
            <a:off x="553269" y="851669"/>
            <a:ext cx="1504578" cy="87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STEP 5 — BUSINESS INSIGHTS</a:t>
            </a:r>
            <a:endParaRPr lang="en-US" sz="600" dirty="0"/>
          </a:p>
        </p:txBody>
      </p:sp>
      <p:sp>
        <p:nvSpPr>
          <p:cNvPr id="7" name="Shape 4"/>
          <p:cNvSpPr/>
          <p:nvPr/>
        </p:nvSpPr>
        <p:spPr>
          <a:xfrm>
            <a:off x="5758071" y="1859376"/>
            <a:ext cx="2315213" cy="669973"/>
          </a:xfrm>
          <a:custGeom>
            <a:avLst/>
            <a:gdLst/>
            <a:ahLst/>
            <a:cxnLst/>
            <a:rect l="l" t="t" r="r" b="b"/>
            <a:pathLst>
              <a:path w="4071119" h="505123">
                <a:moveTo>
                  <a:pt x="33338" y="0"/>
                </a:moveTo>
                <a:lnTo>
                  <a:pt x="4071119" y="0"/>
                </a:lnTo>
                <a:lnTo>
                  <a:pt x="4071119" y="505123"/>
                </a:lnTo>
                <a:lnTo>
                  <a:pt x="0" y="505123"/>
                </a:lnTo>
                <a:lnTo>
                  <a:pt x="0" y="33338"/>
                </a:lnTo>
                <a:arcTo wR="33338" hR="33338" stAng="10800000" swAng="5400000"/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8" name="Text 5"/>
          <p:cNvSpPr/>
          <p:nvPr/>
        </p:nvSpPr>
        <p:spPr>
          <a:xfrm>
            <a:off x="5853322" y="1954625"/>
            <a:ext cx="2062816" cy="408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Top 10 Countries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853322" y="2141851"/>
            <a:ext cx="2062816" cy="349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8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77.2%</a:t>
            </a: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of total Netflix content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758153" y="3171740"/>
            <a:ext cx="2315213" cy="669973"/>
          </a:xfrm>
          <a:custGeom>
            <a:avLst/>
            <a:gdLst/>
            <a:ahLst/>
            <a:cxnLst/>
            <a:rect l="l" t="t" r="r" b="b"/>
            <a:pathLst>
              <a:path w="4071119" h="505123">
                <a:moveTo>
                  <a:pt x="0" y="0"/>
                </a:moveTo>
                <a:lnTo>
                  <a:pt x="4037781" y="0"/>
                </a:lnTo>
                <a:arcTo wR="33338" hR="33338" stAng="16200000" swAng="5400000"/>
                <a:lnTo>
                  <a:pt x="4071119" y="505123"/>
                </a:lnTo>
                <a:lnTo>
                  <a:pt x="0" y="505123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2" name="Text 9"/>
          <p:cNvSpPr/>
          <p:nvPr/>
        </p:nvSpPr>
        <p:spPr>
          <a:xfrm>
            <a:off x="5853404" y="3266989"/>
            <a:ext cx="2062816" cy="408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 Dominance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853404" y="3454215"/>
            <a:ext cx="2062816" cy="349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8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36.9%</a:t>
            </a: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of all content from United States alone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758071" y="2522994"/>
            <a:ext cx="2315213" cy="669973"/>
          </a:xfrm>
          <a:custGeom>
            <a:avLst/>
            <a:gdLst/>
            <a:ahLst/>
            <a:cxnLst/>
            <a:rect l="l" t="t" r="r" b="b"/>
            <a:pathLst>
              <a:path w="4071119" h="505123">
                <a:moveTo>
                  <a:pt x="0" y="0"/>
                </a:moveTo>
                <a:lnTo>
                  <a:pt x="4071119" y="0"/>
                </a:lnTo>
                <a:lnTo>
                  <a:pt x="4071119" y="505123"/>
                </a:lnTo>
                <a:lnTo>
                  <a:pt x="33338" y="505123"/>
                </a:lnTo>
                <a:arcTo wR="33338" hR="33338" stAng="5400000" swAng="5400000"/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15" name="Shape 12"/>
          <p:cNvSpPr/>
          <p:nvPr/>
        </p:nvSpPr>
        <p:spPr>
          <a:xfrm>
            <a:off x="5758071" y="2522994"/>
            <a:ext cx="2315213" cy="14288"/>
          </a:xfrm>
          <a:prstGeom prst="roundRect">
            <a:avLst>
              <a:gd name="adj" fmla="val 49998"/>
            </a:avLst>
          </a:prstGeom>
          <a:solidFill>
            <a:srgbClr val="C7C7D0"/>
          </a:solidFill>
          <a:ln/>
        </p:spPr>
      </p:sp>
      <p:sp>
        <p:nvSpPr>
          <p:cNvPr id="16" name="Text 13"/>
          <p:cNvSpPr/>
          <p:nvPr/>
        </p:nvSpPr>
        <p:spPr>
          <a:xfrm>
            <a:off x="5859418" y="2618243"/>
            <a:ext cx="2062816" cy="408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India + UK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859418" y="2805470"/>
            <a:ext cx="2062816" cy="349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Combined </a:t>
            </a:r>
            <a:r>
              <a:rPr lang="en-US" sz="8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19.3%</a:t>
            </a: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of catalog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5758153" y="3829721"/>
            <a:ext cx="2315213" cy="669973"/>
          </a:xfrm>
          <a:custGeom>
            <a:avLst/>
            <a:gdLst/>
            <a:ahLst/>
            <a:cxnLst/>
            <a:rect l="l" t="t" r="r" b="b"/>
            <a:pathLst>
              <a:path w="4071119" h="505123">
                <a:moveTo>
                  <a:pt x="0" y="0"/>
                </a:moveTo>
                <a:lnTo>
                  <a:pt x="4071119" y="0"/>
                </a:lnTo>
                <a:lnTo>
                  <a:pt x="4071119" y="471785"/>
                </a:lnTo>
                <a:arcTo wR="33338" hR="33338" stAng="0" swAng="5400000"/>
                <a:lnTo>
                  <a:pt x="0" y="505123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0" name="Shape 17"/>
          <p:cNvSpPr/>
          <p:nvPr/>
        </p:nvSpPr>
        <p:spPr>
          <a:xfrm>
            <a:off x="5758153" y="3829721"/>
            <a:ext cx="2315213" cy="14288"/>
          </a:xfrm>
          <a:prstGeom prst="roundRect">
            <a:avLst>
              <a:gd name="adj" fmla="val 49998"/>
            </a:avLst>
          </a:prstGeom>
          <a:solidFill>
            <a:srgbClr val="C7C7D0"/>
          </a:solidFill>
          <a:ln/>
        </p:spPr>
      </p:sp>
      <p:sp>
        <p:nvSpPr>
          <p:cNvPr id="21" name="Text 18"/>
          <p:cNvSpPr/>
          <p:nvPr/>
        </p:nvSpPr>
        <p:spPr>
          <a:xfrm>
            <a:off x="5853404" y="3924970"/>
            <a:ext cx="2062816" cy="408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Long Tail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853404" y="4112197"/>
            <a:ext cx="2062816" cy="349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76 countries share only </a:t>
            </a:r>
            <a:r>
              <a:rPr lang="en-US" sz="8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22.8%</a:t>
            </a: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of content</a:t>
            </a:r>
            <a:endParaRPr lang="en-US" sz="8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70E6F6D-9B62-C1B4-B8B9-7B4D190410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881" y="1122089"/>
            <a:ext cx="4636100" cy="3734002"/>
          </a:xfrm>
          <a:prstGeom prst="rect">
            <a:avLst/>
          </a:prstGeom>
        </p:spPr>
      </p:pic>
      <p:sp>
        <p:nvSpPr>
          <p:cNvPr id="26" name="Shape 17">
            <a:extLst>
              <a:ext uri="{FF2B5EF4-FFF2-40B4-BE49-F238E27FC236}">
                <a16:creationId xmlns:a16="http://schemas.microsoft.com/office/drawing/2014/main" id="{4F88740D-6A79-C690-60EC-D20C5AE67862}"/>
              </a:ext>
            </a:extLst>
          </p:cNvPr>
          <p:cNvSpPr/>
          <p:nvPr/>
        </p:nvSpPr>
        <p:spPr>
          <a:xfrm>
            <a:off x="5758071" y="3180224"/>
            <a:ext cx="2315213" cy="14288"/>
          </a:xfrm>
          <a:prstGeom prst="roundRect">
            <a:avLst>
              <a:gd name="adj" fmla="val 49998"/>
            </a:avLst>
          </a:prstGeom>
          <a:solidFill>
            <a:srgbClr val="C7C7D0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20" y="432569"/>
            <a:ext cx="5528146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Task 4 — Release-Year Trend Analysis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96119" y="1051992"/>
            <a:ext cx="657225" cy="191839"/>
          </a:xfrm>
          <a:prstGeom prst="roundRect">
            <a:avLst>
              <a:gd name="adj" fmla="val 22114"/>
            </a:avLst>
          </a:prstGeom>
          <a:solidFill>
            <a:srgbClr val="E1E1EA"/>
          </a:solidFill>
          <a:ln/>
        </p:spPr>
      </p:sp>
      <p:sp>
        <p:nvSpPr>
          <p:cNvPr id="4" name="Text 2"/>
          <p:cNvSpPr/>
          <p:nvPr/>
        </p:nvSpPr>
        <p:spPr>
          <a:xfrm>
            <a:off x="571872" y="1089868"/>
            <a:ext cx="96291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STEPS 1–3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96119" y="1288777"/>
            <a:ext cx="2414721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Dataset Properties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96119" y="1654671"/>
            <a:ext cx="2414721" cy="6561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93040" indent="-193040" algn="l">
              <a:lnSpc>
                <a:spcPct val="126000"/>
              </a:lnSpc>
              <a:buSzPct val="100000"/>
              <a:buChar char="•"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Column: </a:t>
            </a:r>
            <a:r>
              <a:rPr lang="en-US" sz="10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release_year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Integer (int64)</a:t>
            </a:r>
            <a:endParaRPr lang="en-US" sz="1000" dirty="0"/>
          </a:p>
          <a:p>
            <a:pPr marL="193040" indent="-193040" algn="l">
              <a:lnSpc>
                <a:spcPct val="126000"/>
              </a:lnSpc>
              <a:buSzPct val="100000"/>
              <a:buChar char="•"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missing values</a:t>
            </a:r>
            <a:endParaRPr lang="en-US" sz="1000" dirty="0"/>
          </a:p>
          <a:p>
            <a:pPr marL="193040" indent="-193040" algn="l">
              <a:lnSpc>
                <a:spcPct val="126000"/>
              </a:lnSpc>
              <a:buSzPct val="100000"/>
              <a:buChar char="•"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Year range: </a:t>
            </a: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1925–2021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96119" y="2479477"/>
            <a:ext cx="2414721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Methodology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6119" y="2845371"/>
            <a:ext cx="2414721" cy="6561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26000"/>
              </a:lnSpc>
              <a:buSzPct val="100000"/>
              <a:buChar char="•"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Grouped dataset by </a:t>
            </a:r>
            <a:r>
              <a:rPr lang="en-US" sz="10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release_year</a:t>
            </a:r>
            <a:endParaRPr lang="en-US" sz="1000" dirty="0"/>
          </a:p>
          <a:p>
            <a:pPr marL="193040" indent="-193040" algn="l">
              <a:lnSpc>
                <a:spcPct val="126000"/>
              </a:lnSpc>
              <a:buSzPct val="100000"/>
              <a:buChar char="•"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Counted content per year</a:t>
            </a:r>
            <a:endParaRPr lang="en-US" sz="1000" dirty="0"/>
          </a:p>
          <a:p>
            <a:pPr marL="193040" indent="-193040" algn="l">
              <a:lnSpc>
                <a:spcPct val="126000"/>
              </a:lnSpc>
              <a:buSzPct val="100000"/>
              <a:buChar char="•"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Calculated year-over-year % growth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53580" y="3691161"/>
            <a:ext cx="1108620" cy="416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1,146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253580" y="4261545"/>
            <a:ext cx="1108620" cy="184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Peak Year 2018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1620" y="4519835"/>
            <a:ext cx="1992540" cy="191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6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Highest production year on record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017637" y="3691161"/>
            <a:ext cx="1108652" cy="416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+62%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017638" y="4261545"/>
            <a:ext cx="1108650" cy="184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2016 Growth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75664" y="4519835"/>
            <a:ext cx="1992598" cy="191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6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+346 titles — largest YoY increase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781748" y="3691161"/>
            <a:ext cx="1108652" cy="416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−38%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781749" y="4261545"/>
            <a:ext cx="1108650" cy="184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2021 Decline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39775" y="4519835"/>
            <a:ext cx="1992598" cy="191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6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−361 titles — largest YoY decline</a:t>
            </a:r>
            <a:endParaRPr lang="en-US" sz="10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7B0735E-31A4-E00E-F344-6C34EE89AB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6657" y="1015142"/>
            <a:ext cx="4823744" cy="24939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5528"/>
            <a:ext cx="8151763" cy="263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Task 4 — Release-Year Trend Visualizations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96119" y="778520"/>
            <a:ext cx="438076" cy="127843"/>
          </a:xfrm>
          <a:prstGeom prst="roundRect">
            <a:avLst>
              <a:gd name="adj" fmla="val 22123"/>
            </a:avLst>
          </a:prstGeom>
          <a:solidFill>
            <a:srgbClr val="E1E1EA"/>
          </a:solidFill>
          <a:ln/>
        </p:spPr>
      </p:sp>
      <p:sp>
        <p:nvSpPr>
          <p:cNvPr id="4" name="Text 2"/>
          <p:cNvSpPr/>
          <p:nvPr/>
        </p:nvSpPr>
        <p:spPr>
          <a:xfrm>
            <a:off x="546571" y="803746"/>
            <a:ext cx="794370" cy="77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STEPS 4–5</a:t>
            </a:r>
            <a:endParaRPr lang="en-US" sz="600" dirty="0"/>
          </a:p>
        </p:txBody>
      </p:sp>
      <p:sp>
        <p:nvSpPr>
          <p:cNvPr id="6" name="Shape 3"/>
          <p:cNvSpPr/>
          <p:nvPr/>
        </p:nvSpPr>
        <p:spPr>
          <a:xfrm>
            <a:off x="6887249" y="1811673"/>
            <a:ext cx="9525" cy="1941016"/>
          </a:xfrm>
          <a:prstGeom prst="roundRect">
            <a:avLst>
              <a:gd name="adj" fmla="val 50000"/>
            </a:avLst>
          </a:prstGeom>
          <a:solidFill>
            <a:srgbClr val="C7C7D0"/>
          </a:solidFill>
          <a:ln/>
        </p:spPr>
      </p:sp>
      <p:sp>
        <p:nvSpPr>
          <p:cNvPr id="7" name="Shape 4"/>
          <p:cNvSpPr/>
          <p:nvPr/>
        </p:nvSpPr>
        <p:spPr>
          <a:xfrm>
            <a:off x="6493179" y="1901565"/>
            <a:ext cx="313665" cy="45719"/>
          </a:xfrm>
          <a:prstGeom prst="roundRect">
            <a:avLst>
              <a:gd name="adj" fmla="val 50000"/>
            </a:avLst>
          </a:prstGeom>
          <a:solidFill>
            <a:srgbClr val="C7C7D0"/>
          </a:solidFill>
          <a:ln/>
        </p:spPr>
      </p:sp>
      <p:sp>
        <p:nvSpPr>
          <p:cNvPr id="8" name="Shape 5"/>
          <p:cNvSpPr/>
          <p:nvPr/>
        </p:nvSpPr>
        <p:spPr>
          <a:xfrm>
            <a:off x="6797319" y="1811673"/>
            <a:ext cx="189384" cy="189384"/>
          </a:xfrm>
          <a:prstGeom prst="roundRect">
            <a:avLst>
              <a:gd name="adj" fmla="val 18668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28871" y="1827449"/>
            <a:ext cx="126206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781480" y="1840546"/>
            <a:ext cx="689720" cy="144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2000–2015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570853" y="2001949"/>
            <a:ext cx="900346" cy="270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Steady growth in </a:t>
            </a:r>
          </a:p>
          <a:p>
            <a:pPr marL="0" indent="0" algn="r">
              <a:lnSpc>
                <a:spcPct val="106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content acquisition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977178" y="2338153"/>
            <a:ext cx="252487" cy="45719"/>
          </a:xfrm>
          <a:prstGeom prst="roundRect">
            <a:avLst>
              <a:gd name="adj" fmla="val 50000"/>
            </a:avLst>
          </a:prstGeom>
          <a:solidFill>
            <a:srgbClr val="C7C7D0"/>
          </a:solidFill>
          <a:ln/>
        </p:spPr>
      </p:sp>
      <p:sp>
        <p:nvSpPr>
          <p:cNvPr id="13" name="Shape 10"/>
          <p:cNvSpPr/>
          <p:nvPr/>
        </p:nvSpPr>
        <p:spPr>
          <a:xfrm>
            <a:off x="6797319" y="2248260"/>
            <a:ext cx="189384" cy="189384"/>
          </a:xfrm>
          <a:prstGeom prst="roundRect">
            <a:avLst>
              <a:gd name="adj" fmla="val 18668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28871" y="2264036"/>
            <a:ext cx="126206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312824" y="2277132"/>
            <a:ext cx="652796" cy="229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2015–2018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312824" y="2438536"/>
            <a:ext cx="1020788" cy="300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Explosive expansion</a:t>
            </a:r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— 2016 peak: </a:t>
            </a:r>
            <a:r>
              <a:rPr lang="en-US" sz="9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+62.34%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493179" y="2739244"/>
            <a:ext cx="313665" cy="45719"/>
          </a:xfrm>
          <a:prstGeom prst="roundRect">
            <a:avLst>
              <a:gd name="adj" fmla="val 50000"/>
            </a:avLst>
          </a:prstGeom>
          <a:solidFill>
            <a:srgbClr val="C7C7D0"/>
          </a:solidFill>
          <a:ln/>
        </p:spPr>
      </p:sp>
      <p:sp>
        <p:nvSpPr>
          <p:cNvPr id="18" name="Shape 15"/>
          <p:cNvSpPr/>
          <p:nvPr/>
        </p:nvSpPr>
        <p:spPr>
          <a:xfrm>
            <a:off x="6797319" y="2649352"/>
            <a:ext cx="189384" cy="189384"/>
          </a:xfrm>
          <a:prstGeom prst="roundRect">
            <a:avLst>
              <a:gd name="adj" fmla="val 18668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28871" y="2665128"/>
            <a:ext cx="126206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843481" y="2678225"/>
            <a:ext cx="627718" cy="144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2018 Peak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916004" y="2839628"/>
            <a:ext cx="555195" cy="263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</a:pPr>
            <a:r>
              <a:rPr lang="en-US" sz="9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1,146 titles</a:t>
            </a:r>
            <a:endParaRPr lang="en-US" sz="900" dirty="0">
              <a:solidFill>
                <a:srgbClr val="3C3939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r">
              <a:lnSpc>
                <a:spcPct val="106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all-time high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977178" y="3140336"/>
            <a:ext cx="252487" cy="45719"/>
          </a:xfrm>
          <a:prstGeom prst="roundRect">
            <a:avLst>
              <a:gd name="adj" fmla="val 50000"/>
            </a:avLst>
          </a:prstGeom>
          <a:solidFill>
            <a:srgbClr val="C7C7D0"/>
          </a:solidFill>
          <a:ln/>
        </p:spPr>
      </p:sp>
      <p:sp>
        <p:nvSpPr>
          <p:cNvPr id="23" name="Shape 20"/>
          <p:cNvSpPr/>
          <p:nvPr/>
        </p:nvSpPr>
        <p:spPr>
          <a:xfrm>
            <a:off x="6797319" y="3050444"/>
            <a:ext cx="189384" cy="189384"/>
          </a:xfrm>
          <a:prstGeom prst="roundRect">
            <a:avLst>
              <a:gd name="adj" fmla="val 18668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28871" y="3066220"/>
            <a:ext cx="126206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7312823" y="3079316"/>
            <a:ext cx="665102" cy="229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2018–2021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312824" y="3240720"/>
            <a:ext cx="1148764" cy="300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Sustained contraction </a:t>
            </a:r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— strategic quality shift</a:t>
            </a:r>
            <a:endParaRPr lang="en-US" sz="9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7669793F-6E2E-44E9-E652-E78F94668E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609"/>
          <a:stretch>
            <a:fillRect/>
          </a:stretch>
        </p:blipFill>
        <p:spPr>
          <a:xfrm>
            <a:off x="496119" y="1557014"/>
            <a:ext cx="4944766" cy="267970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22151"/>
            <a:ext cx="4722763" cy="276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Summary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3925119" y="782092"/>
            <a:ext cx="5179963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From Raw Data to Business Insights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3925119" y="959569"/>
            <a:ext cx="4722763" cy="794593"/>
          </a:xfrm>
          <a:prstGeom prst="roundRect">
            <a:avLst>
              <a:gd name="adj" fmla="val 4683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018434" y="1052885"/>
            <a:ext cx="265807" cy="265807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91508" y="1125959"/>
            <a:ext cx="119583" cy="11958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018434" y="1374056"/>
            <a:ext cx="4536132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Task 1 — Data Cleaning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4018434" y="1545654"/>
            <a:ext cx="4536132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 nulls · 0 duplicates · Standardized "Not Given" → "Unknown"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3925119" y="1809527"/>
            <a:ext cx="4722763" cy="794593"/>
          </a:xfrm>
          <a:prstGeom prst="roundRect">
            <a:avLst>
              <a:gd name="adj" fmla="val 4683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018434" y="1902842"/>
            <a:ext cx="265807" cy="265807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91508" y="1975917"/>
            <a:ext cx="119583" cy="11958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018434" y="2224013"/>
            <a:ext cx="4536132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Task 2 — Content Type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4018434" y="2395612"/>
            <a:ext cx="4536132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Movies </a:t>
            </a:r>
            <a:r>
              <a:rPr lang="en-US" sz="9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69.7%</a:t>
            </a: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· TV Shows </a:t>
            </a:r>
            <a:r>
              <a:rPr lang="en-US" sz="9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30.3%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3925119" y="2659484"/>
            <a:ext cx="4722763" cy="794593"/>
          </a:xfrm>
          <a:prstGeom prst="roundRect">
            <a:avLst>
              <a:gd name="adj" fmla="val 4683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018434" y="2752799"/>
            <a:ext cx="265807" cy="265807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91508" y="2825874"/>
            <a:ext cx="119583" cy="11958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018434" y="3073971"/>
            <a:ext cx="4536132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Task 3 — Geography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4018434" y="3245569"/>
            <a:ext cx="4536132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 10 = </a:t>
            </a:r>
            <a:r>
              <a:rPr lang="en-US" sz="9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77.2%</a:t>
            </a: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· US leads with </a:t>
            </a:r>
            <a:r>
              <a:rPr lang="en-US" sz="9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3,240</a:t>
            </a: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titles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3925119" y="3509442"/>
            <a:ext cx="4722763" cy="794593"/>
          </a:xfrm>
          <a:prstGeom prst="roundRect">
            <a:avLst>
              <a:gd name="adj" fmla="val 4683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4018434" y="3602757"/>
            <a:ext cx="265807" cy="265807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91508" y="3675831"/>
            <a:ext cx="119583" cy="11958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018434" y="3923928"/>
            <a:ext cx="4536132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Task 4 — Trends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4018434" y="4095527"/>
            <a:ext cx="4536132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Peak 2018: </a:t>
            </a:r>
            <a:r>
              <a:rPr lang="en-US" sz="9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1,146</a:t>
            </a: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titles · 2016 growth: </a:t>
            </a:r>
            <a:r>
              <a:rPr lang="en-US" sz="9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+62.34%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4058023" y="4428604"/>
            <a:ext cx="4570810" cy="6158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Built an evidence-based analytical workflow from data cleaning to business insight generation — demonstrating proficiency in data validation, EDA, and visualization using Python · Pandas · Matplotlib · Seaborn.</a:t>
            </a:r>
            <a:endParaRPr lang="en-US" sz="800" dirty="0"/>
          </a:p>
        </p:txBody>
      </p:sp>
      <p:sp>
        <p:nvSpPr>
          <p:cNvPr id="26" name="Shape 19"/>
          <p:cNvSpPr/>
          <p:nvPr/>
        </p:nvSpPr>
        <p:spPr>
          <a:xfrm>
            <a:off x="3925119" y="4366320"/>
            <a:ext cx="9525" cy="354955"/>
          </a:xfrm>
          <a:prstGeom prst="roundRect">
            <a:avLst>
              <a:gd name="adj" fmla="val 50000"/>
            </a:avLst>
          </a:prstGeom>
          <a:solidFill>
            <a:srgbClr val="1B1B27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656</TotalTime>
  <Words>666</Words>
  <Application>Microsoft Office PowerPoint</Application>
  <PresentationFormat>On-screen Show (16:9)</PresentationFormat>
  <Paragraphs>161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Roboto</vt:lpstr>
      <vt:lpstr>Consolas</vt:lpstr>
      <vt:lpstr>Raleway</vt:lpstr>
      <vt:lpstr>Roboto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Khushal Dak</cp:lastModifiedBy>
  <cp:revision>4</cp:revision>
  <dcterms:created xsi:type="dcterms:W3CDTF">2026-08-10T08:38:49Z</dcterms:created>
  <dcterms:modified xsi:type="dcterms:W3CDTF">2026-08-11T05:41:01Z</dcterms:modified>
</cp:coreProperties>
</file>